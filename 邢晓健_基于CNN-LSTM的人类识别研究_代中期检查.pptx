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9" r:id="rId2"/>
  </p:sldMasterIdLst>
  <p:notesMasterIdLst>
    <p:notesMasterId r:id="rId10"/>
  </p:notesMasterIdLst>
  <p:handoutMasterIdLst>
    <p:handoutMasterId r:id="rId11"/>
  </p:handoutMasterIdLst>
  <p:sldIdLst>
    <p:sldId id="256" r:id="rId3"/>
    <p:sldId id="304" r:id="rId4"/>
    <p:sldId id="267" r:id="rId5"/>
    <p:sldId id="295" r:id="rId6"/>
    <p:sldId id="301" r:id="rId7"/>
    <p:sldId id="302" r:id="rId8"/>
    <p:sldId id="305" r:id="rId9"/>
  </p:sldIdLst>
  <p:sldSz cx="9144000" cy="5143500" type="screen16x9"/>
  <p:notesSz cx="6858000" cy="9144000"/>
  <p:custDataLst>
    <p:tags r:id="rId12"/>
  </p:custDataLst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2365" autoAdjust="0"/>
  </p:normalViewPr>
  <p:slideViewPr>
    <p:cSldViewPr snapToGrid="0">
      <p:cViewPr varScale="1">
        <p:scale>
          <a:sx n="105" d="100"/>
          <a:sy n="105" d="100"/>
        </p:scale>
        <p:origin x="787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67190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6497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9906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85E27-1647-D730-E304-B0DF4D72D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782A2211-81A3-0B6F-0905-10F908450E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fld id="{0E49AE57-4EC9-400A-B801-98B91BB16A87}" type="slidenum">
              <a:rPr lang="zh-CN" altLang="en-US" smtClean="0"/>
              <a:t>2</a:t>
            </a:fld>
            <a:fld id="{C482CDCE-5AAC-47AC-A6F7-BD6ABE3C4406}" type="slidenum">
              <a:rPr lang="zh-CN" altLang="en-US" smtClean="0"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01970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0F6F1F29-9F10-1691-64A6-A6BC27C0D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fld id="{0E49AE57-4EC9-400A-B801-98B91BB16A87}" type="slidenum">
              <a:rPr lang="zh-CN" altLang="en-US" smtClean="0"/>
              <a:t>3</a:t>
            </a:fld>
            <a:fld id="{C482CDCE-5AAC-47AC-A6F7-BD6ABE3C4406}" type="slidenum">
              <a:rPr lang="zh-CN" altLang="en-US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15029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150D6-311C-9004-AD54-963ED0A6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76837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7D10D-B768-E5BE-4931-7FE5E6516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88258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03E59-BC45-9F5A-B36F-D85A1F7A7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13763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3A662-30F8-8DD5-BB0A-C43CF38F3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3971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8">
            <a:extLst>
              <a:ext uri="{FF2B5EF4-FFF2-40B4-BE49-F238E27FC236}">
                <a16:creationId xmlns:a16="http://schemas.microsoft.com/office/drawing/2014/main" id="{D114B7BF-D5C3-75C8-19B1-95B5CECED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0" y="1333829"/>
            <a:ext cx="3655181" cy="617934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  <a:lvl6pPr marL="1714500" indent="0">
              <a:buNone/>
              <a:defRPr sz="1400"/>
            </a:lvl6pPr>
            <a:lvl7pPr marL="2057400" indent="0">
              <a:buNone/>
              <a:defRPr sz="1400"/>
            </a:lvl7pPr>
            <a:lvl8pPr marL="2400300" indent="0">
              <a:buNone/>
              <a:defRPr sz="1400"/>
            </a:lvl8pPr>
            <a:lvl9pPr marL="27432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0" y="1999034"/>
            <a:ext cx="3655181" cy="2643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333829"/>
            <a:ext cx="3673182" cy="617934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  <a:lvl6pPr marL="1714500" indent="0">
              <a:buNone/>
              <a:defRPr sz="1400"/>
            </a:lvl6pPr>
            <a:lvl7pPr marL="2057400" indent="0">
              <a:buNone/>
              <a:defRPr sz="1400"/>
            </a:lvl7pPr>
            <a:lvl8pPr marL="2400300" indent="0">
              <a:buNone/>
              <a:defRPr sz="1400"/>
            </a:lvl8pPr>
            <a:lvl9pPr marL="27432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1999034"/>
            <a:ext cx="3673182" cy="2643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3124012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342900"/>
            <a:ext cx="4629150" cy="4052888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3124012" cy="2858691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400"/>
            </a:lvl2pPr>
            <a:lvl3pPr marL="685800" indent="0">
              <a:buNone/>
              <a:defRPr sz="1200"/>
            </a:lvl3pPr>
            <a:lvl4pPr marL="1028700" indent="0">
              <a:buNone/>
              <a:defRPr sz="1100"/>
            </a:lvl4pPr>
            <a:lvl5pPr marL="1371600" indent="0">
              <a:buNone/>
              <a:defRPr sz="1100"/>
            </a:lvl5pPr>
            <a:lvl6pPr marL="1714500" indent="0">
              <a:buNone/>
              <a:defRPr sz="1100"/>
            </a:lvl6pPr>
            <a:lvl7pPr marL="2057400" indent="0">
              <a:buNone/>
              <a:defRPr sz="1100"/>
            </a:lvl7pPr>
            <a:lvl8pPr marL="2400300" indent="0">
              <a:buNone/>
              <a:defRPr sz="1100"/>
            </a:lvl8pPr>
            <a:lvl9pPr marL="27432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273843"/>
            <a:ext cx="7886700" cy="43588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9421052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8372718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607438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3307134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4182192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2620416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432413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7321756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9669591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4961115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 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222049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/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8528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ransition/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358639" y="605813"/>
            <a:ext cx="8404634" cy="62324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zh-CN" altLang="en-US" sz="3600" dirty="0">
                <a:solidFill>
                  <a:srgbClr val="1B4367"/>
                </a:solidFill>
                <a:cs typeface="+mn-ea"/>
              </a:rPr>
              <a:t>基于</a:t>
            </a:r>
            <a:r>
              <a:rPr lang="en-US" altLang="zh-CN" sz="3600" dirty="0">
                <a:solidFill>
                  <a:srgbClr val="1B4367"/>
                </a:solidFill>
                <a:cs typeface="+mn-ea"/>
              </a:rPr>
              <a:t>CNN-LSTM</a:t>
            </a:r>
            <a:r>
              <a:rPr lang="zh-CN" altLang="en-US" sz="3600" dirty="0">
                <a:solidFill>
                  <a:srgbClr val="1B4367"/>
                </a:solidFill>
                <a:cs typeface="+mn-ea"/>
              </a:rPr>
              <a:t>的人类动作识别研究</a:t>
            </a:r>
            <a:endParaRPr lang="zh-CN" altLang="en-US" sz="3600" dirty="0">
              <a:solidFill>
                <a:srgbClr val="1B4367"/>
              </a:solidFill>
              <a:cs typeface="+mn-ea"/>
              <a:sym typeface="+mn-lt"/>
            </a:endParaRPr>
          </a:p>
        </p:txBody>
      </p:sp>
      <p:sp>
        <p:nvSpPr>
          <p:cNvPr id="3075" name="文本框 3074"/>
          <p:cNvSpPr txBox="1"/>
          <p:nvPr/>
        </p:nvSpPr>
        <p:spPr>
          <a:xfrm>
            <a:off x="2841096" y="2710214"/>
            <a:ext cx="3461808" cy="500137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68580" tIns="34290" rIns="68580" bIns="34290" anchor="t">
            <a:spAutoFit/>
          </a:bodyPr>
          <a:lstStyle/>
          <a:p>
            <a:pPr lvl="0" eaLnBrk="0" hangingPunct="0"/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计科</a:t>
            </a: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2201</a:t>
            </a: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邢晓健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A08C70E-FBFD-CD7E-2B39-141A017D3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D8E6B-BBCB-6017-F40F-01C1FA45E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>
            <a:extLst>
              <a:ext uri="{FF2B5EF4-FFF2-40B4-BE49-F238E27FC236}">
                <a16:creationId xmlns:a16="http://schemas.microsoft.com/office/drawing/2014/main" id="{1718CB72-FF9D-1D79-450A-1A4F15C06FBB}"/>
              </a:ext>
            </a:extLst>
          </p:cNvPr>
          <p:cNvSpPr/>
          <p:nvPr/>
        </p:nvSpPr>
        <p:spPr>
          <a:xfrm>
            <a:off x="245011" y="1338072"/>
            <a:ext cx="8284853" cy="11319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大多数关于人体活动识别（</a:t>
            </a:r>
            <a:r>
              <a:rPr lang="en-US" altLang="zh-CN" dirty="0"/>
              <a:t>HAR</a:t>
            </a:r>
            <a:r>
              <a:rPr lang="zh-CN" altLang="en-US" dirty="0"/>
              <a:t>）的研究都是针对简单或标准 的人类活动</a:t>
            </a:r>
          </a:p>
        </p:txBody>
      </p:sp>
      <p:sp>
        <p:nvSpPr>
          <p:cNvPr id="24" name="文本框 15">
            <a:extLst>
              <a:ext uri="{FF2B5EF4-FFF2-40B4-BE49-F238E27FC236}">
                <a16:creationId xmlns:a16="http://schemas.microsoft.com/office/drawing/2014/main" id="{E8481C34-1D00-6B48-B8EF-E3F0F68F9CAE}"/>
              </a:ext>
            </a:extLst>
          </p:cNvPr>
          <p:cNvSpPr txBox="1"/>
          <p:nvPr/>
        </p:nvSpPr>
        <p:spPr>
          <a:xfrm>
            <a:off x="227859" y="131986"/>
            <a:ext cx="4081602" cy="56169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zh-CN" altLang="en-US" sz="3200" b="1" dirty="0">
                <a:solidFill>
                  <a:srgbClr val="1B4367"/>
                </a:solidFill>
                <a:cs typeface="+mn-ea"/>
                <a:sym typeface="+mn-lt"/>
              </a:rPr>
              <a:t>研究问题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DE15953-F41C-0C28-ABCD-BFED368D0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72464" y="4890748"/>
            <a:ext cx="2057400" cy="273844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0A7FDAA-70E0-6F6E-02F5-BCFA7B7C1593}"/>
              </a:ext>
            </a:extLst>
          </p:cNvPr>
          <p:cNvSpPr txBox="1"/>
          <p:nvPr/>
        </p:nvSpPr>
        <p:spPr>
          <a:xfrm>
            <a:off x="454059" y="818212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现实需要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3C56BF7-E57B-87DA-85EF-ACE63157E5A8}"/>
              </a:ext>
            </a:extLst>
          </p:cNvPr>
          <p:cNvSpPr txBox="1"/>
          <p:nvPr/>
        </p:nvSpPr>
        <p:spPr>
          <a:xfrm>
            <a:off x="454057" y="2580371"/>
            <a:ext cx="14331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研究内容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B14BFFA-0684-3505-13C4-7C3D4B436AF4}"/>
              </a:ext>
            </a:extLst>
          </p:cNvPr>
          <p:cNvSpPr txBox="1"/>
          <p:nvPr/>
        </p:nvSpPr>
        <p:spPr>
          <a:xfrm>
            <a:off x="454057" y="1576162"/>
            <a:ext cx="770297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大多数关于人体活动识别（</a:t>
            </a:r>
            <a:r>
              <a:rPr lang="en-US" altLang="zh-CN" dirty="0"/>
              <a:t>HAR</a:t>
            </a:r>
            <a:r>
              <a:rPr lang="zh-CN" altLang="en-US" dirty="0"/>
              <a:t>）的研究都是针对简单或标准的人类活动。然而，在医疗领域，对于患者康复和复杂动态肢体动作（</a:t>
            </a:r>
            <a:r>
              <a:rPr lang="en-US" altLang="zh-CN" dirty="0"/>
              <a:t>DLA</a:t>
            </a:r>
            <a:r>
              <a:rPr lang="zh-CN" altLang="en-US" dirty="0"/>
              <a:t>）的体育活动识别，最先进方法的可靠性和有效性无法推断。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40C97B9-C791-1A26-AC4B-5A30899E79C1}"/>
              </a:ext>
            </a:extLst>
          </p:cNvPr>
          <p:cNvSpPr/>
          <p:nvPr/>
        </p:nvSpPr>
        <p:spPr>
          <a:xfrm>
            <a:off x="245011" y="3152358"/>
            <a:ext cx="8173275" cy="158316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大多数关于人体活动识别（</a:t>
            </a:r>
            <a:r>
              <a:rPr lang="en-US" altLang="zh-CN" dirty="0"/>
              <a:t>HAR</a:t>
            </a:r>
            <a:r>
              <a:rPr lang="zh-CN" altLang="en-US" dirty="0"/>
              <a:t>）的研究都是针对简单或标准 的人类活动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E8F9CE8-06A6-BB1D-AC29-246FE1105AC3}"/>
              </a:ext>
            </a:extLst>
          </p:cNvPr>
          <p:cNvSpPr txBox="1"/>
          <p:nvPr/>
        </p:nvSpPr>
        <p:spPr>
          <a:xfrm>
            <a:off x="554296" y="3409750"/>
            <a:ext cx="750249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基于生理传感器技术与深度学习的融合，针对人体活动识别（</a:t>
            </a:r>
            <a:r>
              <a:rPr lang="en-US" altLang="zh-CN" dirty="0"/>
              <a:t>HAR</a:t>
            </a:r>
            <a:r>
              <a:rPr lang="zh-CN" altLang="en-US" dirty="0"/>
              <a:t>）中复杂动作捕捉难的挑战 ，探讨如何利用 </a:t>
            </a:r>
            <a:r>
              <a:rPr lang="en-US" altLang="zh-CN" dirty="0"/>
              <a:t>EMG</a:t>
            </a:r>
            <a:r>
              <a:rPr lang="zh-CN" altLang="en-US" dirty="0"/>
              <a:t>传感器获取肌肉电活动数据，并结合 </a:t>
            </a:r>
            <a:r>
              <a:rPr lang="en-US" altLang="zh-CN" dirty="0"/>
              <a:t>CNN-LSTM </a:t>
            </a:r>
            <a:r>
              <a:rPr lang="zh-CN" altLang="en-US" dirty="0"/>
              <a:t>等混合模型替代传统繁琐的人工特征工程，以实现更高效、轻量化的复杂行为模式识别 。</a:t>
            </a:r>
          </a:p>
        </p:txBody>
      </p:sp>
    </p:spTree>
    <p:extLst>
      <p:ext uri="{BB962C8B-B14F-4D97-AF65-F5344CB8AC3E}">
        <p14:creationId xmlns:p14="http://schemas.microsoft.com/office/powerpoint/2010/main" val="210564196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15"/>
          <p:cNvSpPr txBox="1"/>
          <p:nvPr/>
        </p:nvSpPr>
        <p:spPr>
          <a:xfrm>
            <a:off x="227859" y="131986"/>
            <a:ext cx="4081602" cy="56169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zh-CN" altLang="en-US" sz="3200" b="1" dirty="0">
                <a:solidFill>
                  <a:srgbClr val="1B4367"/>
                </a:solidFill>
                <a:cs typeface="+mn-ea"/>
                <a:sym typeface="+mn-lt"/>
              </a:rPr>
              <a:t>项目功能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9F368B3-A8CA-A0C3-AEC9-F0E5EFC4D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72464" y="4890748"/>
            <a:ext cx="2057400" cy="273844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6D1069EE-3FA1-FD36-4B9B-78CEEC05D591}"/>
              </a:ext>
            </a:extLst>
          </p:cNvPr>
          <p:cNvSpPr/>
          <p:nvPr/>
        </p:nvSpPr>
        <p:spPr>
          <a:xfrm>
            <a:off x="880835" y="3152011"/>
            <a:ext cx="7649029" cy="123201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F1F0725-E1D0-C26D-F257-3E6CC535B3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2284" y="759470"/>
            <a:ext cx="5114286" cy="227619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29BC021-9965-2EFB-4046-EDA164574E6F}"/>
              </a:ext>
            </a:extLst>
          </p:cNvPr>
          <p:cNvSpPr txBox="1"/>
          <p:nvPr/>
        </p:nvSpPr>
        <p:spPr>
          <a:xfrm>
            <a:off x="1144070" y="3353931"/>
            <a:ext cx="69719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本项目使用 </a:t>
            </a:r>
            <a:r>
              <a:rPr lang="en-US" altLang="zh-CN" dirty="0"/>
              <a:t>CNN-LSTM </a:t>
            </a:r>
            <a:r>
              <a:rPr lang="zh-CN" altLang="en-US" dirty="0"/>
              <a:t>模型对原始肌电图（</a:t>
            </a:r>
            <a:r>
              <a:rPr lang="en-US" altLang="zh-CN" dirty="0"/>
              <a:t>EMG</a:t>
            </a:r>
            <a:r>
              <a:rPr lang="zh-CN" altLang="en-US" dirty="0"/>
              <a:t>）数据进行复杂人体活动分类，处理并利用最先进的基于肌电图（</a:t>
            </a:r>
            <a:r>
              <a:rPr lang="en-US" altLang="zh-CN" dirty="0"/>
              <a:t>EMG</a:t>
            </a:r>
            <a:r>
              <a:rPr lang="zh-CN" altLang="en-US" dirty="0"/>
              <a:t>）传感器的物理动作数据集，通过</a:t>
            </a:r>
            <a:r>
              <a:rPr lang="en-US" altLang="zh-CN" dirty="0"/>
              <a:t>8</a:t>
            </a:r>
            <a:r>
              <a:rPr lang="zh-CN" altLang="en-US" dirty="0"/>
              <a:t>通道电传感器信息识别具有正常活动实例的复杂人体活动。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D6C16-9D9D-6261-8C3E-DC6E219C5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15">
            <a:extLst>
              <a:ext uri="{FF2B5EF4-FFF2-40B4-BE49-F238E27FC236}">
                <a16:creationId xmlns:a16="http://schemas.microsoft.com/office/drawing/2014/main" id="{38B6E958-328C-F1EC-D9B3-7CB11842CD8D}"/>
              </a:ext>
            </a:extLst>
          </p:cNvPr>
          <p:cNvSpPr txBox="1"/>
          <p:nvPr/>
        </p:nvSpPr>
        <p:spPr>
          <a:xfrm>
            <a:off x="140774" y="131986"/>
            <a:ext cx="4780850" cy="56169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zh-CN" altLang="en-US" sz="3200" b="1" dirty="0">
                <a:solidFill>
                  <a:srgbClr val="1B4367"/>
                </a:solidFill>
                <a:cs typeface="+mn-ea"/>
                <a:sym typeface="+mn-lt"/>
              </a:rPr>
              <a:t>研究方法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D602E85-D939-0251-D28B-3ABC81815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2CEC2ED-67FA-4F46-03C2-5CAEE7DF3747}"/>
              </a:ext>
            </a:extLst>
          </p:cNvPr>
          <p:cNvSpPr txBox="1"/>
          <p:nvPr/>
        </p:nvSpPr>
        <p:spPr>
          <a:xfrm>
            <a:off x="414785" y="832458"/>
            <a:ext cx="10727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A.</a:t>
            </a:r>
            <a:r>
              <a:rPr lang="zh-CN" altLang="en-US" dirty="0"/>
              <a:t>数据准备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CFE81AA-1FE3-1CED-C806-9FA1372B51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5408" y="173999"/>
            <a:ext cx="5347677" cy="300496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046E8933-3EFF-3BD8-2EC1-8457857D95D2}"/>
              </a:ext>
            </a:extLst>
          </p:cNvPr>
          <p:cNvSpPr txBox="1"/>
          <p:nvPr/>
        </p:nvSpPr>
        <p:spPr>
          <a:xfrm>
            <a:off x="327699" y="1279015"/>
            <a:ext cx="266224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数据来源：数据在实验模拟环境中使用跆拳道站立沙袋和肌电图 （</a:t>
            </a:r>
            <a:r>
              <a:rPr lang="en-US" altLang="zh-CN" dirty="0"/>
              <a:t>EMG</a:t>
            </a:r>
            <a:r>
              <a:rPr lang="zh-CN" altLang="en-US" dirty="0"/>
              <a:t>）设备收集。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数据内容：数据集包含</a:t>
            </a:r>
            <a:r>
              <a:rPr lang="en-US" altLang="zh-CN" dirty="0"/>
              <a:t>10,000 </a:t>
            </a:r>
            <a:r>
              <a:rPr lang="zh-CN" altLang="en-US" dirty="0"/>
              <a:t>个实例，每个活动有</a:t>
            </a:r>
            <a:r>
              <a:rPr lang="en-US" altLang="zh-CN" dirty="0"/>
              <a:t>8</a:t>
            </a:r>
            <a:r>
              <a:rPr lang="zh-CN" altLang="en-US" dirty="0"/>
              <a:t>个属 性，代表身体部位和相应的肌肉。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7F8D496-97A4-D74C-5F85-6D32ECB7DD89}"/>
              </a:ext>
            </a:extLst>
          </p:cNvPr>
          <p:cNvSpPr txBox="1"/>
          <p:nvPr/>
        </p:nvSpPr>
        <p:spPr>
          <a:xfrm>
            <a:off x="758592" y="3502690"/>
            <a:ext cx="77567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数据处理：对所选数据进行了最低程度的预处理，使其能够为所提出和基准模型进行分类准备。结合了所有用户的数据，并根据数据集标注元数据的利用情况进行了标记。</a:t>
            </a:r>
          </a:p>
        </p:txBody>
      </p:sp>
    </p:spTree>
    <p:extLst>
      <p:ext uri="{BB962C8B-B14F-4D97-AF65-F5344CB8AC3E}">
        <p14:creationId xmlns:p14="http://schemas.microsoft.com/office/powerpoint/2010/main" val="230757218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65CD4-8B18-69B3-5C4C-EE7083402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15">
            <a:extLst>
              <a:ext uri="{FF2B5EF4-FFF2-40B4-BE49-F238E27FC236}">
                <a16:creationId xmlns:a16="http://schemas.microsoft.com/office/drawing/2014/main" id="{3CC13AEE-5AFB-D5E9-A533-FB04E33E55FD}"/>
              </a:ext>
            </a:extLst>
          </p:cNvPr>
          <p:cNvSpPr txBox="1"/>
          <p:nvPr/>
        </p:nvSpPr>
        <p:spPr>
          <a:xfrm>
            <a:off x="97231" y="95241"/>
            <a:ext cx="4780850" cy="56169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zh-CN" altLang="en-US" sz="3200" b="1" dirty="0">
                <a:solidFill>
                  <a:srgbClr val="1B4367"/>
                </a:solidFill>
                <a:cs typeface="+mn-ea"/>
                <a:sym typeface="+mn-lt"/>
              </a:rPr>
              <a:t>研究方法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6AA84E-52DE-43B4-022E-43FE08A9CFC4}"/>
              </a:ext>
            </a:extLst>
          </p:cNvPr>
          <p:cNvSpPr txBox="1"/>
          <p:nvPr/>
        </p:nvSpPr>
        <p:spPr>
          <a:xfrm>
            <a:off x="413657" y="3467019"/>
            <a:ext cx="85397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所提出的模型整合了卷积神经网络（</a:t>
            </a:r>
            <a:r>
              <a:rPr lang="en-US" altLang="zh-CN" dirty="0"/>
              <a:t>CNN</a:t>
            </a:r>
            <a:r>
              <a:rPr lang="zh-CN" altLang="en-US" dirty="0"/>
              <a:t>）和长短期记忆网络（</a:t>
            </a:r>
            <a:r>
              <a:rPr lang="en-US" altLang="zh-CN" dirty="0"/>
              <a:t>LSTM</a:t>
            </a:r>
            <a:r>
              <a:rPr lang="zh-CN" altLang="en-US" dirty="0"/>
              <a:t>）层。以使用原始输入数据进行高效特征工程和分类。</a:t>
            </a:r>
            <a:r>
              <a:rPr lang="en-US" altLang="zh-CN" dirty="0"/>
              <a:t>CNN</a:t>
            </a:r>
            <a:r>
              <a:rPr lang="zh-CN" altLang="en-US" dirty="0"/>
              <a:t>层用于提取局部空间特征。</a:t>
            </a:r>
            <a:r>
              <a:rPr lang="en-US" altLang="zh-CN" dirty="0"/>
              <a:t>LSTM </a:t>
            </a:r>
            <a:r>
              <a:rPr lang="zh-CN" altLang="en-US" dirty="0"/>
              <a:t>层捕捉时间依赖性和长期模式，以泛化肌电图（</a:t>
            </a:r>
            <a:r>
              <a:rPr lang="en-US" altLang="zh-CN" dirty="0"/>
              <a:t>EMG</a:t>
            </a:r>
            <a:r>
              <a:rPr lang="zh-CN" altLang="en-US" dirty="0"/>
              <a:t>） 模式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A5AF892-AC15-CDD2-CAB7-FC397C1B8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84F16DE-97A8-39C3-152F-E218CCA95D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132" y="1124120"/>
            <a:ext cx="8539736" cy="2028571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EE0E7CD-599B-1685-76FD-B8CEBCD67D25}"/>
              </a:ext>
            </a:extLst>
          </p:cNvPr>
          <p:cNvSpPr txBox="1"/>
          <p:nvPr/>
        </p:nvSpPr>
        <p:spPr>
          <a:xfrm>
            <a:off x="244075" y="663484"/>
            <a:ext cx="12378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B.</a:t>
            </a:r>
            <a:r>
              <a:rPr lang="zh-CN" altLang="en-US" dirty="0"/>
              <a:t>提出的模型</a:t>
            </a:r>
          </a:p>
        </p:txBody>
      </p:sp>
    </p:spTree>
    <p:extLst>
      <p:ext uri="{BB962C8B-B14F-4D97-AF65-F5344CB8AC3E}">
        <p14:creationId xmlns:p14="http://schemas.microsoft.com/office/powerpoint/2010/main" val="84355023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4B49C-E6F4-1C0A-5CE8-93904E768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15">
            <a:extLst>
              <a:ext uri="{FF2B5EF4-FFF2-40B4-BE49-F238E27FC236}">
                <a16:creationId xmlns:a16="http://schemas.microsoft.com/office/drawing/2014/main" id="{7FF1FD8A-74AA-AEA5-4468-935BCD25E3EB}"/>
              </a:ext>
            </a:extLst>
          </p:cNvPr>
          <p:cNvSpPr txBox="1"/>
          <p:nvPr/>
        </p:nvSpPr>
        <p:spPr>
          <a:xfrm>
            <a:off x="97231" y="95241"/>
            <a:ext cx="4780850" cy="56169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zh-CN" altLang="en-US" sz="3200" b="1" dirty="0">
                <a:solidFill>
                  <a:srgbClr val="1B4367"/>
                </a:solidFill>
                <a:cs typeface="+mn-ea"/>
                <a:sym typeface="+mn-lt"/>
              </a:rPr>
              <a:t>目前成果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9CA0C0A-B08E-6B86-5A69-2BC9C30BA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FF7BE7B-F950-E795-58D7-8FCE1907B982}"/>
              </a:ext>
            </a:extLst>
          </p:cNvPr>
          <p:cNvSpPr txBox="1"/>
          <p:nvPr/>
        </p:nvSpPr>
        <p:spPr>
          <a:xfrm>
            <a:off x="333452" y="79036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/>
              <a:t>模型代码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46DA937-4FCD-E578-A806-AF9B5A25CF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882" y="1159694"/>
            <a:ext cx="3766833" cy="3364707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C6C2A017-C3A2-162E-67DC-5A3D06360AEC}"/>
              </a:ext>
            </a:extLst>
          </p:cNvPr>
          <p:cNvSpPr txBox="1"/>
          <p:nvPr/>
        </p:nvSpPr>
        <p:spPr>
          <a:xfrm>
            <a:off x="4572000" y="81987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/>
              <a:t>模型表现</a:t>
            </a: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3EFD3E13-77CE-F92E-8653-B60A027622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4132934"/>
              </p:ext>
            </p:extLst>
          </p:nvPr>
        </p:nvGraphicFramePr>
        <p:xfrm>
          <a:off x="4133642" y="1352155"/>
          <a:ext cx="4923271" cy="19964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7158">
                  <a:extLst>
                    <a:ext uri="{9D8B030D-6E8A-4147-A177-3AD203B41FA5}">
                      <a16:colId xmlns:a16="http://schemas.microsoft.com/office/drawing/2014/main" val="4019381817"/>
                    </a:ext>
                  </a:extLst>
                </a:gridCol>
                <a:gridCol w="1294259">
                  <a:extLst>
                    <a:ext uri="{9D8B030D-6E8A-4147-A177-3AD203B41FA5}">
                      <a16:colId xmlns:a16="http://schemas.microsoft.com/office/drawing/2014/main" val="339884503"/>
                    </a:ext>
                  </a:extLst>
                </a:gridCol>
                <a:gridCol w="890379">
                  <a:extLst>
                    <a:ext uri="{9D8B030D-6E8A-4147-A177-3AD203B41FA5}">
                      <a16:colId xmlns:a16="http://schemas.microsoft.com/office/drawing/2014/main" val="2272543604"/>
                    </a:ext>
                  </a:extLst>
                </a:gridCol>
                <a:gridCol w="929659">
                  <a:extLst>
                    <a:ext uri="{9D8B030D-6E8A-4147-A177-3AD203B41FA5}">
                      <a16:colId xmlns:a16="http://schemas.microsoft.com/office/drawing/2014/main" val="431842489"/>
                    </a:ext>
                  </a:extLst>
                </a:gridCol>
                <a:gridCol w="811816">
                  <a:extLst>
                    <a:ext uri="{9D8B030D-6E8A-4147-A177-3AD203B41FA5}">
                      <a16:colId xmlns:a16="http://schemas.microsoft.com/office/drawing/2014/main" val="2662151955"/>
                    </a:ext>
                  </a:extLst>
                </a:gridCol>
              </a:tblGrid>
              <a:tr h="44596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数据集名称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Accuracy (%)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Precision(%)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Recall(%)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F1_Score(%)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607828788"/>
                  </a:ext>
                </a:extLst>
              </a:tr>
              <a:tr h="4459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UMA_FALL_ADL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50.14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53.27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50.14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49.2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81529192"/>
                  </a:ext>
                </a:extLst>
              </a:tr>
              <a:tr h="28593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SisFall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u="none" strike="noStrike" dirty="0">
                          <a:effectLst/>
                        </a:rPr>
                        <a:t>55.12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58.32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55.12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53.51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97873168"/>
                  </a:ext>
                </a:extLst>
              </a:tr>
              <a:tr h="3147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OPPORTUNITY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83.2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83.77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83.2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u="none" strike="noStrike" dirty="0">
                          <a:effectLst/>
                        </a:rPr>
                        <a:t>82.85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4002835"/>
                  </a:ext>
                </a:extLst>
              </a:tr>
              <a:tr h="2378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EMG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75.82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76.5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75.82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75.5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48052144"/>
                  </a:ext>
                </a:extLst>
              </a:tr>
              <a:tr h="2378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IMU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91.18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91.26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91.18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u="none" strike="noStrike" dirty="0">
                          <a:effectLst/>
                        </a:rPr>
                        <a:t>91.16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184211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668518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5581B-8E6F-6355-EFF9-C1A428CE6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15">
            <a:extLst>
              <a:ext uri="{FF2B5EF4-FFF2-40B4-BE49-F238E27FC236}">
                <a16:creationId xmlns:a16="http://schemas.microsoft.com/office/drawing/2014/main" id="{1F82656F-D441-2888-19A4-417A4597EECC}"/>
              </a:ext>
            </a:extLst>
          </p:cNvPr>
          <p:cNvSpPr txBox="1"/>
          <p:nvPr/>
        </p:nvSpPr>
        <p:spPr>
          <a:xfrm>
            <a:off x="97231" y="95241"/>
            <a:ext cx="4780850" cy="56169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zh-CN" altLang="en-US" sz="3200" b="1" dirty="0">
                <a:solidFill>
                  <a:srgbClr val="1B4367"/>
                </a:solidFill>
                <a:cs typeface="+mn-ea"/>
                <a:sym typeface="+mn-lt"/>
              </a:rPr>
              <a:t>目前成果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AF75BF6-5ABF-A82B-7164-BF1276B74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BB907BA-2DB1-A850-3A52-75669783AA41}"/>
              </a:ext>
            </a:extLst>
          </p:cNvPr>
          <p:cNvSpPr txBox="1"/>
          <p:nvPr/>
        </p:nvSpPr>
        <p:spPr>
          <a:xfrm>
            <a:off x="3403224" y="47226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/>
              <a:t>部分混淆矩阵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3A75B02-2810-7267-68F7-F968941A0F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766" y="928362"/>
            <a:ext cx="4038063" cy="374287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284803F-BDC3-A553-5CD4-42A4D24D38EC}"/>
              </a:ext>
            </a:extLst>
          </p:cNvPr>
          <p:cNvSpPr txBox="1"/>
          <p:nvPr/>
        </p:nvSpPr>
        <p:spPr>
          <a:xfrm>
            <a:off x="1278816" y="4771260"/>
            <a:ext cx="10999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IMU Dataset</a:t>
            </a:r>
            <a:endParaRPr lang="zh-CN" altLang="en-US" sz="12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5AF4693-01FF-70E9-0F25-51A4008ACF4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5372" y="928361"/>
            <a:ext cx="4288971" cy="374287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0CDED1F-BAFF-D776-088D-4F59FAB20F0E}"/>
              </a:ext>
            </a:extLst>
          </p:cNvPr>
          <p:cNvSpPr txBox="1"/>
          <p:nvPr/>
        </p:nvSpPr>
        <p:spPr>
          <a:xfrm>
            <a:off x="5907959" y="4747845"/>
            <a:ext cx="14820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 UCI-PDA Dataset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230466930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5.09.14"/>
  <p:tag name="AS_TITLE" val="Aspose.Slides for .NET 4.0 Client Profile"/>
  <p:tag name="AS_VERSION" val="25.9"/>
</p:tagLst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p">
      <a:majorFont>
        <a:latin typeface="微软雅黑"/>
        <a:ea typeface="微软雅黑"/>
        <a:cs typeface="Arial"/>
      </a:majorFont>
      <a:minorFont>
        <a:latin typeface="微软雅黑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 overriden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2329</TotalTime>
  <Words>446</Words>
  <Application>Microsoft Office PowerPoint</Application>
  <PresentationFormat>全屏显示(16:9)</PresentationFormat>
  <Paragraphs>66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宋体</vt:lpstr>
      <vt:lpstr>微软雅黑</vt:lpstr>
      <vt:lpstr>Arial</vt:lpstr>
      <vt:lpstr>Calibri</vt:lpstr>
      <vt:lpstr>Calibri Light</vt:lpstr>
      <vt:lpstr/>
      <vt:lpstr> overriden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晓燕 邢</cp:lastModifiedBy>
  <cp:revision>77</cp:revision>
  <dcterms:created xsi:type="dcterms:W3CDTF">2016-05-20T12:59:00Z</dcterms:created>
  <dcterms:modified xsi:type="dcterms:W3CDTF">2026-04-24T09:08:05Z</dcterms:modified>
  <cp:contentStatus>ytfcells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2052-10.1.0.5745</vt:lpwstr>
  </property>
</Properties>
</file>